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259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1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1.png"/><Relationship Id="rId4" Type="http://schemas.openxmlformats.org/officeDocument/2006/relationships/image" Target="../media/image36.png"/><Relationship Id="rId9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eghanadh278-crypto/Automating-GUI-Elements-using-Seleniu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0D4B4">
              <a:alpha val="10000"/>
            </a:srgbClr>
          </a:solidFill>
          <a:ln w="12700">
            <a:solidFill>
              <a:srgbClr val="00D4B4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62272"/>
            <a:ext cx="9144000" cy="676656"/>
          </a:xfrm>
          <a:prstGeom prst="rect">
            <a:avLst/>
          </a:prstGeom>
          <a:solidFill>
            <a:srgbClr val="00D4B4">
              <a:alpha val="13000"/>
            </a:srgbClr>
          </a:solidFill>
          <a:ln w="12700">
            <a:solidFill>
              <a:srgbClr val="00D4B4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5760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GUI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Framework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502920" y="2249424"/>
            <a:ext cx="5212080" cy="45720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 Capstone Project  ·  Wipro Limited  ·  June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1635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Meghanadh Yarramsetty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Navin CK  ·  SDET Training Program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44768" y="914400"/>
            <a:ext cx="2651760" cy="3154680"/>
          </a:xfrm>
          <a:prstGeom prst="roundRect">
            <a:avLst>
              <a:gd name="adj" fmla="val 4138"/>
            </a:avLst>
          </a:prstGeom>
          <a:solidFill>
            <a:srgbClr val="162435"/>
          </a:solidFill>
          <a:ln w="12700">
            <a:solidFill>
              <a:srgbClr val="00D4B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05156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@BeforeSuite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ChromeDriver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driver.get(URL)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@Test(priority=1)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tc01_Name()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enterName(...)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Assert.assertEquals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test.pass("✔")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61688"/>
            <a:ext cx="338328" cy="3383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4048" y="4727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4361688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18488" y="4727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436168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52928" y="472744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1645920" cy="164592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00D4B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17320"/>
            <a:ext cx="1133856" cy="1133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23160" y="12618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Meghanadh Yarramsetty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423160" y="17922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 Trainee  ·  Wipro Limited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3090672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00984"/>
            <a:ext cx="393192" cy="393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1288" y="3163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161288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 Trainee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818888" y="3090672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300984"/>
            <a:ext cx="393192" cy="3931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77256" y="3163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77256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Limited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02920" y="4078224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88536"/>
            <a:ext cx="393192" cy="3931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61288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161288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Engineer in Test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818888" y="4078224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4288536"/>
            <a:ext cx="393192" cy="3931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77256" y="4151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477256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Navin CK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Journey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5097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 Training Program – Topics Covered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55448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→ Advanced Java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137160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554480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554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79592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and JDBC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304288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66928" y="2487168"/>
            <a:ext cx="384048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248716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6192" y="25054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00600" y="2304288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0328" y="2487168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91032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104" y="248716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79592" y="25054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Framework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57200" y="3236976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66928" y="3419856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6692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3419856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36192" y="34381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Build Tool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800600" y="3236976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10328" y="3419856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91032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4104" y="3419856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879592" y="34381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– API Tests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3017520" y="4169664"/>
            <a:ext cx="310896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127248" y="4352544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3127248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1024" y="4352544"/>
            <a:ext cx="365760" cy="36576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096512" y="43708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SDET?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B2B3A"/>
          </a:solidFill>
          <a:ln w="19050">
            <a:solidFill>
              <a:srgbClr val="00D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56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  =  Software Development Engineer in Test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2697480" cy="2423160"/>
          </a:xfrm>
          <a:prstGeom prst="roundRect">
            <a:avLst>
              <a:gd name="adj" fmla="val 4528"/>
            </a:avLst>
          </a:prstGeom>
          <a:solidFill>
            <a:srgbClr val="162435"/>
          </a:solidFill>
          <a:ln w="12700">
            <a:solidFill>
              <a:srgbClr val="8BA7BF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32304"/>
            <a:ext cx="2331720" cy="0"/>
          </a:xfrm>
          <a:prstGeom prst="line">
            <a:avLst/>
          </a:prstGeom>
          <a:noFill/>
          <a:ln w="6350">
            <a:solidFill>
              <a:srgbClr val="8BA7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23744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tests manually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feedback loop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test reports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901952"/>
            <a:ext cx="2697480" cy="2423160"/>
          </a:xfrm>
          <a:prstGeom prst="roundRect">
            <a:avLst>
              <a:gd name="adj" fmla="val 4528"/>
            </a:avLst>
          </a:prstGeom>
          <a:solidFill>
            <a:srgbClr val="0D2A24"/>
          </a:solidFill>
          <a:ln w="25400">
            <a:solidFill>
              <a:srgbClr val="00D4B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20440" y="2432304"/>
            <a:ext cx="2331720" cy="0"/>
          </a:xfrm>
          <a:prstGeom prst="line">
            <a:avLst/>
          </a:prstGeom>
          <a:noFill/>
          <a:ln w="6350">
            <a:solidFill>
              <a:srgbClr val="00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523744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automation frameworks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like a developer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ready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quality ownership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01952"/>
            <a:ext cx="2697480" cy="2423160"/>
          </a:xfrm>
          <a:prstGeom prst="roundRect">
            <a:avLst>
              <a:gd name="adj" fmla="val 4528"/>
            </a:avLst>
          </a:prstGeom>
          <a:solidFill>
            <a:srgbClr val="162435"/>
          </a:solidFill>
          <a:ln w="12700">
            <a:solidFill>
              <a:srgbClr val="FCD34D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2029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2432304"/>
            <a:ext cx="2331720" cy="0"/>
          </a:xfrm>
          <a:prstGeom prst="line">
            <a:avLst/>
          </a:prstGeom>
          <a:noFill/>
          <a:ln w="635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523744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product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write unit tests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QA focus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Feature-centric tools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B2B3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55371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SDETs bridge the gap between development and quality — critical for fast, reliable modern software delivery.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9844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081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63240" y="140817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GUI Automation Framework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482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204825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883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Under Test: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268833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testautomationpractice.blogspot.com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284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332841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all interactive GUI elements on the website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6849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396849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 +  Selenium WebDriver 4.18.1  +  TestNG  +  Maven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49884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6085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Build: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460857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  |  Apache Maven 3.x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5097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testautomationpractice.blogspot.com — all GUI element types available for practice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434840" cy="3611880"/>
          </a:xfrm>
          <a:prstGeom prst="roundRect">
            <a:avLst>
              <a:gd name="adj" fmla="val 2532"/>
            </a:avLst>
          </a:prstGeom>
          <a:solidFill>
            <a:srgbClr val="162435"/>
          </a:solidFill>
          <a:ln w="12700">
            <a:solidFill>
              <a:srgbClr val="00D4B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89888"/>
            <a:ext cx="4251960" cy="3429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344168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133502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Fields (Name / Email / Phone / Address)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643177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49240" y="1634033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Buttons (Gender: Male / Female)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942186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49240" y="193304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Checkboxes (Days of the week: Mon–Sat)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241194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49240" y="223205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 (Country · Colors · Sorted Animals)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540203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49240" y="2531059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Pickers (jQuery UI – 2 date formats)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839212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49240" y="283006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(Single &amp; Multiple files)</a:t>
            </a:r>
            <a:endParaRPr lang="en-US" sz="11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138221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349240" y="3129077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(Simple · Confirmation · Prompt)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437230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349240" y="342808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Hover (Dropdown sub-menu links)</a:t>
            </a:r>
            <a:endParaRPr lang="en-US" sz="1100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736238"/>
            <a:ext cx="228600" cy="22860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349240" y="372709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(jQuery UI)</a:t>
            </a:r>
            <a:endParaRPr lang="en-US" sz="110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4035247"/>
            <a:ext cx="228600" cy="2286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349240" y="4026103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(Price range widget)</a:t>
            </a:r>
            <a:endParaRPr lang="en-US" sz="1100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4334256"/>
            <a:ext cx="228600" cy="22860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349240" y="432511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Click (Copy text between fields)</a:t>
            </a:r>
            <a:endParaRPr lang="en-US" sz="1100" dirty="0"/>
          </a:p>
        </p:txBody>
      </p:sp>
      <p:pic>
        <p:nvPicPr>
          <p:cNvPr id="2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4633265"/>
            <a:ext cx="228600" cy="228600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5349240" y="4624121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Button &amp; Wikipedia Search Widget</a:t>
            </a:r>
            <a:endParaRPr lang="en-US" sz="1100" dirty="0"/>
          </a:p>
        </p:txBody>
      </p:sp>
      <p:sp>
        <p:nvSpPr>
          <p:cNvPr id="31" name="Text 16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44752"/>
            <a:ext cx="484632" cy="484632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087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32588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25296" y="17282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14300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444752"/>
            <a:ext cx="484632" cy="484632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50876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05656" y="132588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05656" y="17282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v4.18.1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14300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444752"/>
            <a:ext cx="484632" cy="484632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5087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86016" y="132588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986016" y="17282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v7.9.0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441448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2743200"/>
            <a:ext cx="484632" cy="484632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80720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25296" y="26243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25296" y="302666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3.x – Build Tool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2441448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2743200"/>
            <a:ext cx="484632" cy="484632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280720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05656" y="26243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WebDriverManager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105656" y="302666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v5.7.0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2441448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55080" y="2743200"/>
            <a:ext cx="484632" cy="484632"/>
          </a:xfrm>
          <a:prstGeom prst="ellipse">
            <a:avLst/>
          </a:prstGeom>
          <a:solidFill>
            <a:srgbClr val="00D4B4">
              <a:alpha val="20000"/>
            </a:srgbClr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280720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86016" y="262432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ExtentReports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986016" y="302666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v5.1.1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3739896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94360" y="4041648"/>
            <a:ext cx="484632" cy="48463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105656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25296" y="392277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Log4j2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225296" y="432511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v2.23.1 – Logging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337560" y="3739896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3474720" y="4041648"/>
            <a:ext cx="484632" cy="484632"/>
          </a:xfrm>
          <a:prstGeom prst="ellipse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8728" y="4105656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105656" y="392277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4105656" y="432511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IDE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217920" y="3739896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355080" y="4041648"/>
            <a:ext cx="484632" cy="484632"/>
          </a:xfrm>
          <a:prstGeom prst="ellipse">
            <a:avLst/>
          </a:prstGeom>
          <a:solidFill>
            <a:srgbClr val="E2E8F0">
              <a:alpha val="20000"/>
            </a:srgbClr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4105656"/>
            <a:ext cx="347472" cy="34747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986016" y="392277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6986016" y="432511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– POM Framework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4572000" cy="612648"/>
          </a:xfrm>
          <a:prstGeom prst="roundRect">
            <a:avLst>
              <a:gd name="adj" fmla="val 11940"/>
            </a:avLst>
          </a:prstGeom>
          <a:solidFill>
            <a:srgbClr val="3B82F6">
              <a:alpha val="18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704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1704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GuiElementsTest.java – 18 Test Cases + Screenshots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4297680" cy="612648"/>
          </a:xfrm>
          <a:prstGeom prst="roundRect">
            <a:avLst>
              <a:gd name="adj" fmla="val 11940"/>
            </a:avLst>
          </a:prstGeom>
          <a:solidFill>
            <a:srgbClr val="00D4B4">
              <a:alpha val="18000"/>
            </a:srgbClr>
          </a:solidFill>
          <a:ln w="19050">
            <a:solidFill>
              <a:srgbClr val="00D4B4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202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9202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GuiElementsPage.java – All Locators &amp; Action Methods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78608"/>
            <a:ext cx="4023360" cy="612648"/>
          </a:xfrm>
          <a:prstGeom prst="roundRect">
            <a:avLst>
              <a:gd name="adj" fmla="val 11940"/>
            </a:avLst>
          </a:prstGeom>
          <a:solidFill>
            <a:srgbClr val="A78BFA">
              <a:alpha val="18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6700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6700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BaseTest.java – Browser Setup &amp; Teardown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328416"/>
            <a:ext cx="3749040" cy="612648"/>
          </a:xfrm>
          <a:prstGeom prst="roundRect">
            <a:avLst>
              <a:gd name="adj" fmla="val 11940"/>
            </a:avLst>
          </a:prstGeom>
          <a:solidFill>
            <a:srgbClr val="F59E0B">
              <a:alpha val="18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4198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341985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ExtentReportManager.java · ScreenshotUtil.java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4078224"/>
            <a:ext cx="3474720" cy="612648"/>
          </a:xfrm>
          <a:prstGeom prst="roundRect">
            <a:avLst>
              <a:gd name="adj" fmla="val 11940"/>
            </a:avLst>
          </a:prstGeom>
          <a:solidFill>
            <a:srgbClr val="F97316">
              <a:alpha val="18000"/>
            </a:srgbClr>
          </a:solidFill>
          <a:ln w="19050">
            <a:solidFill>
              <a:srgbClr val="F9731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41696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41696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testng.xml  ·  log4j2.xml  ·  pom.xml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49240" y="1078992"/>
            <a:ext cx="3566160" cy="3913632"/>
          </a:xfrm>
          <a:prstGeom prst="roundRect">
            <a:avLst>
              <a:gd name="adj" fmla="val 2564"/>
            </a:avLst>
          </a:prstGeom>
          <a:solidFill>
            <a:srgbClr val="162435"/>
          </a:solidFill>
          <a:ln w="19050">
            <a:solidFill>
              <a:srgbClr val="00D4B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4924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 – Actual Project</a:t>
            </a:r>
            <a:endParaRPr lang="en-US" sz="10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40680" y="1371600"/>
            <a:ext cx="3383280" cy="35478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029200" cy="3977640"/>
          </a:xfrm>
          <a:prstGeom prst="roundRect">
            <a:avLst>
              <a:gd name="adj" fmla="val 2299"/>
            </a:avLst>
          </a:prstGeom>
          <a:solidFill>
            <a:srgbClr val="162435"/>
          </a:solidFill>
          <a:ln w="12700">
            <a:solidFill>
              <a:srgbClr val="00D4B4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4663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selenium-gui-automation/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pom.xml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screenshots/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test-output/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ExtentReport.html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src/test/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resources/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testng.xml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log4j2.xml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java/com/automation/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tests/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├── BaseTest.java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└── GuiElementsTest.java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pages/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└── GuiElementsPage.java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utils/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├── ExtentReportManager.java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└── ScreenshotUtil.java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50992" y="118872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00D4B4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1389888"/>
            <a:ext cx="338328" cy="338328"/>
          </a:xfrm>
          <a:prstGeom prst="ellipse">
            <a:avLst/>
          </a:prstGeom>
          <a:solidFill>
            <a:srgbClr val="00D4B4">
              <a:alpha val="3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9632" y="12618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99632" y="1591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&amp; Test layers cleanly separated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50992" y="2121408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2322576"/>
            <a:ext cx="338328" cy="338328"/>
          </a:xfrm>
          <a:prstGeom prst="ellipse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9632" y="25237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dark-theme → test-output/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50992" y="3054096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FCD34D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3255264"/>
            <a:ext cx="338328" cy="338328"/>
          </a:xfrm>
          <a:prstGeom prst="ellipse">
            <a:avLst/>
          </a:prstGeom>
          <a:solidFill>
            <a:srgbClr val="FCD34D">
              <a:alpha val="3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9632" y="345643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+ After + OnFail per test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50992" y="3986784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3B82F6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60720" y="4187952"/>
            <a:ext cx="338328" cy="338328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40599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9632" y="43891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testng.xml controls suite execution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5097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pattern: each page = one Java class with all locators &amp; methods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0D2A24"/>
          </a:solidFill>
          <a:ln w="19050">
            <a:solidFill>
              <a:srgbClr val="00D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898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POM?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6479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is a design pattern where each web page has its own Java class with all its locators and action methods. Tests only call these methods — they never locate elements directly.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944368"/>
            <a:ext cx="2578608" cy="868680"/>
          </a:xfrm>
          <a:prstGeom prst="roundRect">
            <a:avLst>
              <a:gd name="adj" fmla="val 10526"/>
            </a:avLst>
          </a:prstGeom>
          <a:solidFill>
            <a:srgbClr val="162435"/>
          </a:solidFill>
          <a:ln w="19050">
            <a:solidFill>
              <a:srgbClr val="00D4B4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99923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Class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33832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GuiElementsTest.java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54096" y="3127248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73552" y="2944368"/>
            <a:ext cx="2578608" cy="868680"/>
          </a:xfrm>
          <a:prstGeom prst="roundRect">
            <a:avLst>
              <a:gd name="adj" fmla="val 10526"/>
            </a:avLst>
          </a:prstGeom>
          <a:solidFill>
            <a:srgbClr val="162435"/>
          </a:solidFill>
          <a:ln w="19050">
            <a:solidFill>
              <a:srgbClr val="00D4B4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64992" y="299923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Class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64992" y="33832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GuiElementsPage.java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0" y="3127248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80760" y="2944368"/>
            <a:ext cx="2578608" cy="868680"/>
          </a:xfrm>
          <a:prstGeom prst="roundRect">
            <a:avLst>
              <a:gd name="adj" fmla="val 10526"/>
            </a:avLst>
          </a:prstGeom>
          <a:solidFill>
            <a:srgbClr val="162435"/>
          </a:solidFill>
          <a:ln w="19050">
            <a:solidFill>
              <a:srgbClr val="00D4B4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299923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72200" y="33832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via WebDriver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maintain — change locator in one place, all tests updated automatically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reusability across multiple test methods and test classes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professional test code that reads like plain English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hundreds of test cases without any duplication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Java Files Explained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9844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26464"/>
            <a:ext cx="384048" cy="384048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904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344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BaseTest.java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15568" y="164592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@BeforeSuite launches Chrome · @AfterSuite closes browser and flushes ExtentReport to disk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04825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2176272"/>
            <a:ext cx="384048" cy="384048"/>
          </a:xfrm>
          <a:prstGeom prst="ellipse">
            <a:avLst/>
          </a:prstGeom>
          <a:solidFill>
            <a:srgbClr val="00D4B4">
              <a:alpha val="25000"/>
            </a:srgbClr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2402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2093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GuiElementsPage.java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15568" y="239572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30+ locators and iframe-switch helpers — every action method (enterName, selectGender…) lives here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79806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2926080"/>
            <a:ext cx="384048" cy="384048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99008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GuiElementsTest.java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15568" y="3145536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@Test methods with priorities, assertions (assertEquals/assertTrue) and before/after screenshots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54787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675888"/>
            <a:ext cx="384048" cy="38404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73989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ExtentReportManager.java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15568" y="389534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pattern — creates and owns one HTML report for the entire run; dark theme configured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4360" y="4425696"/>
            <a:ext cx="384048" cy="384048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48970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15568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ScreenshotUtil.java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15568" y="464515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full-page PNG via TakesScreenshot; auto-creates screenshots/ folder; timestamps file names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Concepts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8229600" cy="374904"/>
          </a:xfrm>
          <a:prstGeom prst="roundRect">
            <a:avLst>
              <a:gd name="adj" fmla="val 24390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24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1247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and drives the Chrome browser instance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27048"/>
            <a:ext cx="8229600" cy="374904"/>
          </a:xfrm>
          <a:prstGeom prst="roundRect">
            <a:avLst>
              <a:gd name="adj" fmla="val 24390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Locators: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57276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·  name  ·  xpath  ·  cssSelector  ·  tagName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8229600" cy="374904"/>
          </a:xfrm>
          <a:prstGeom prst="roundRect">
            <a:avLst>
              <a:gd name="adj" fmla="val 24390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20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Class: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02082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dropdown interactions via selectByVisibleText()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374904"/>
          </a:xfrm>
          <a:prstGeom prst="roundRect">
            <a:avLst>
              <a:gd name="adj" fmla="val 24390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Class: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468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hover  ·  Double-click  ·  Drag &amp; Drop  ·  Slider arrows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71216"/>
            <a:ext cx="8229600" cy="374904"/>
          </a:xfrm>
          <a:prstGeom prst="roundRect">
            <a:avLst>
              <a:gd name="adj" fmla="val 24390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16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JavascriptExecutor: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91693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into view, interact with JS-rendered widgets and sliders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8229600" cy="374904"/>
          </a:xfrm>
          <a:prstGeom prst="roundRect">
            <a:avLst>
              <a:gd name="adj" fmla="val 24390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Handling: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3649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switchTo().alert() → accept() / dismiss() / sendKeys()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8229600" cy="374904"/>
          </a:xfrm>
          <a:prstGeom prst="roundRect">
            <a:avLst>
              <a:gd name="adj" fmla="val 24390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13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Wait: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81304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10-second global poll applied to entire WebDriver session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15384"/>
            <a:ext cx="8229600" cy="374904"/>
          </a:xfrm>
          <a:prstGeom prst="roundRect">
            <a:avLst>
              <a:gd name="adj" fmla="val 24390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261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Wait: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0" y="42611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WebDriverWait + ExpectedConditions for specific elements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8229600" cy="374904"/>
          </a:xfrm>
          <a:prstGeom prst="roundRect">
            <a:avLst>
              <a:gd name="adj" fmla="val 24390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09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TakesScreenshot: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26080" y="47091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Full-window PNG captured and saved for every test step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Annotations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61872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@BeforeSuite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35331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before all tests — launches Chrome, initialises ExtentReport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19656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110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@AfterSuite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91109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after all tests — quits browser, flushes HTML report to disk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@BeforeClass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4688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each test class — initialises the GuiElementsPage POM object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26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@Test(priority=1)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02666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 test method and controls execution order (lowest number = first)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84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@Test(description=)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358444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description shown as the node title in the ExtentReport HTML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50792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B2B3A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Assert.assertEquals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414223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expected value matches actual value — test FAILS if different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08576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000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Assert.assertTrue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470001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 boolean condition is true — e.g. isSelected(), !isEmpty()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Overview — TC01 to TC09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39776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 /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Title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driver.getTitle() → Assert.assertEquals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Text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name="name" → sendKeys()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Text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name="email" → sendKeys()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Text 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name="phone" → sendKeys()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Textarea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id="textarea" → sendKeys()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Button – 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//input[@type='radio' @value='male']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Checkboxes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id="monday","wednesday","friday"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Dropdowns (3)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· Colors · Animals – Select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Pickers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id="datepicker" + id="datepicker2"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Overview — TC10 to TC18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39776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 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 / 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id="singleFileUpload" → sendKeys(absPath)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Wikipedia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Wikipedia widget → sendKeys + click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Button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class-based XPath → START/STOP toggle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 Hover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id="hoverButton" → Actions.moveToElement()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Click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id="copyButton" → Actions.doubleClick()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and 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id="draggable" → id="droppable"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#slider .ui-slider-handle → ARROW_RIGHT ×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· Confirmation · Prompt – accept()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ComboBox · Table · Scroll · Hyperlink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482803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 PASS  ·  0 Failures  ·  0 Skipped  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Build the Framework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61872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399032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4264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Maven project in Eclipse IDE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73168" y="1261872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399032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4264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package structure: tests/ · pages/ · utils/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" y="2167128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21945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dependencies in pom.xml (Selenium, TestNG, ExtentReports, WDM)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73168" y="2029968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167128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1945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ExtentReportManager.java — singleton HTML report setup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" y="2935224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29626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ScreenshotUtil.java — screenshot capture and naming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73168" y="2798064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935224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9626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BaseTest.java — browser lifecycle (@BeforeSuite / @AfterSuite)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" y="3703320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37307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GuiElementsPage.java — all 30+ locators and action methods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73168" y="356616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3703320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7307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GuiElementsTest.java — 18 @Test methods with assertions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4334256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" y="4471416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78992" y="44988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testng.xml and log4j2.xml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73168" y="4334256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92040" y="4471416"/>
            <a:ext cx="384048" cy="384048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44988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via TestNG Suite or  mvn test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in Action — Text Fields · Radio Button · Checkboxes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969264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8229600" cy="400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in Action — Dropdowns &amp; Date Pickers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56201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8229600" cy="400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in Action — File Upload · Double Click · Drag &amp; Drop · Slider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77686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8229600" cy="400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in Action — Wikipedia Search · Dynamic Button · Alert Handling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80060" y="969264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8229600" cy="400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Snippets — Eclipse IDE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8229600" cy="4005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 — All 18 Tests PASS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5897880" cy="40050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01968" y="1143000"/>
            <a:ext cx="2057400" cy="804672"/>
          </a:xfrm>
          <a:prstGeom prst="roundRect">
            <a:avLst>
              <a:gd name="adj" fmla="val 11364"/>
            </a:avLst>
          </a:prstGeom>
          <a:solidFill>
            <a:srgbClr val="162435"/>
          </a:solidFill>
          <a:ln w="12700">
            <a:solidFill>
              <a:srgbClr val="00D4B4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01968" y="117957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601968" y="16733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TCs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01968" y="2130552"/>
            <a:ext cx="2057400" cy="804672"/>
          </a:xfrm>
          <a:prstGeom prst="roundRect">
            <a:avLst>
              <a:gd name="adj" fmla="val 11364"/>
            </a:avLst>
          </a:prstGeom>
          <a:solidFill>
            <a:srgbClr val="162435"/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01968" y="2167128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601968" y="266090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01968" y="3118104"/>
            <a:ext cx="2057400" cy="804672"/>
          </a:xfrm>
          <a:prstGeom prst="roundRect">
            <a:avLst>
              <a:gd name="adj" fmla="val 11364"/>
            </a:avLst>
          </a:prstGeom>
          <a:solidFill>
            <a:srgbClr val="162435"/>
          </a:solidFill>
          <a:ln w="12700">
            <a:solidFill>
              <a:srgbClr val="8BA7BF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01968" y="3154680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601968" y="36484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01968" y="4105656"/>
            <a:ext cx="2057400" cy="804672"/>
          </a:xfrm>
          <a:prstGeom prst="roundRect">
            <a:avLst>
              <a:gd name="adj" fmla="val 11364"/>
            </a:avLst>
          </a:prstGeom>
          <a:solidFill>
            <a:srgbClr val="162435"/>
          </a:solidFill>
          <a:ln w="12700">
            <a:solidFill>
              <a:srgbClr val="FCD34D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01968" y="41422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54+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601968" y="46360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Bug Report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70432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7043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81328" y="1170432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1704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40280" y="119786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481328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Button – NoSuchElementException after first click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719072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Name attribute changed from 'start' → 'stop'. Fixed by re-locating element via class attribute XPath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19456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9456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81328" y="2194560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81328" y="21945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40280" y="222199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505456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context menu stayed open, blocking next 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2743200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Context-click not required by the use case — removed from test scope entirely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3218688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186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81328" y="3218688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32186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40280" y="324612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529584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version mismatch warning: Selenium 4.18.1 vs Chrome 149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767328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No functional impact on test execution — logged as open, pending version alignment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51376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242816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4281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481328" y="4242816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81328" y="42428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40280" y="427024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4553712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and wait fields not accessible from GuiElementsTest class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" y="4791456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Changed to public static fields in BaseTest → accessed via BaseTest.driver and BaseTest.wait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6187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444752"/>
            <a:ext cx="402336" cy="402336"/>
          </a:xfrm>
          <a:prstGeom prst="ellipse">
            <a:avLst/>
          </a:prstGeom>
          <a:solidFill>
            <a:srgbClr val="60A5FA">
              <a:alpha val="25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316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Testing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24712" y="16642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Edge and Firefox support via WebDriverManager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73168" y="126187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01184" y="1444752"/>
            <a:ext cx="402336" cy="402336"/>
          </a:xfrm>
          <a:prstGeom prst="ellipse">
            <a:avLst/>
          </a:prstGeom>
          <a:solidFill>
            <a:srgbClr val="00D4B4">
              <a:alpha val="25000"/>
            </a:srgbClr>
          </a:solidFill>
          <a:ln w="12700">
            <a:solidFill>
              <a:srgbClr val="00D4B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167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16642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parallel=methods with configurable thread count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17627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5216" y="2359152"/>
            <a:ext cx="402336" cy="402336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4231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4712" y="2231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Testing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24712" y="2578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input using Apache POI library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73168" y="217627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01184" y="2359152"/>
            <a:ext cx="402336" cy="402336"/>
          </a:xfrm>
          <a:prstGeom prst="ellipse">
            <a:avLst/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24231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231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Jenkins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40680" y="25786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test suite on every Git push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09067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5216" y="3273552"/>
            <a:ext cx="402336" cy="402336"/>
          </a:xfrm>
          <a:prstGeom prst="ellipse">
            <a:avLst/>
          </a:prstGeom>
          <a:solidFill>
            <a:srgbClr val="A78BFA">
              <a:alpha val="25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3375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24712" y="31455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API Tests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24712" y="3493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API test layer alongside the GUI suite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73168" y="309067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01184" y="3273552"/>
            <a:ext cx="402336" cy="402336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333756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31455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Analyzer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40680" y="34930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TestNG IRetryAnalyzer for auto-retry on flaky tests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400507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85216" y="4187952"/>
            <a:ext cx="402336" cy="402336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425196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24712" y="40599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124712" y="44074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interactive dashboard as alternative to Extent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773168" y="400507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162435"/>
          </a:solidFill>
          <a:ln w="12700">
            <a:solidFill>
              <a:srgbClr val="1E3347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901184" y="4187952"/>
            <a:ext cx="402336" cy="402336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5192" y="4251960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440680" y="40599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Execution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440680" y="44074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headless test runs for portability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0D4B4">
              <a:alpha val="12000"/>
            </a:srgbClr>
          </a:solidFill>
          <a:ln w="12700">
            <a:solidFill>
              <a:srgbClr val="00D4B4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Thank You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5336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9961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automated 18 GUI element types using Selenium WebDriver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39112"/>
            <a:ext cx="301752" cy="301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993392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production-ready POM framework with HTML reporting and screenshot evidence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32888"/>
            <a:ext cx="301752" cy="301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487168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resolved 3 bugs during execution — 18/18 test cases PASS, 0 failures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26664"/>
            <a:ext cx="301752" cy="3017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98094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is scalable, maintainable, and CI/CD-ready for real-world projects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20440"/>
            <a:ext cx="301752" cy="30175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4747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54+ screenshots captured per run · ExtentReport.html · GitHub repository published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B2B3A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640080" y="41330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00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github.com/meghanadh278-crypto/Automating-GUI-Elements-using-Selenium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Meghanadh Yarramsetty  ·  SDET Trainee  ·  Wipro Limited  ·  Trainer: Navin CK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7325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1840</Words>
  <Application>Microsoft Office PowerPoint</Application>
  <PresentationFormat>On-screen Show (16:9)</PresentationFormat>
  <Paragraphs>426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Selenium GUI Automation – Capstone</dc:title>
  <dc:subject>PptxGenJS Presentation</dc:subject>
  <dc:creator>Meghanadh Yarramsetty</dc:creator>
  <cp:lastModifiedBy>YARRAMSETTY  MEGHANADH</cp:lastModifiedBy>
  <cp:revision>2</cp:revision>
  <dcterms:created xsi:type="dcterms:W3CDTF">2026-06-13T14:13:02Z</dcterms:created>
  <dcterms:modified xsi:type="dcterms:W3CDTF">2026-06-13T14:17:18Z</dcterms:modified>
</cp:coreProperties>
</file>